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7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73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file:///C:\Users\User\Desktop\Flow&#54016;%20-%20&#49457;&#49688;&#183;&#54620;&#45224;%20&#49345;&#44428;&#51032;%20&#49884;&#44033;&#51201;%20DNA%20&#52628;&#52636;%20&#48143;%20&#53364;&#47084;&#49828;&#53552;&#47553;%20&#44592;&#48152;%20&#52397;&#45380;%20&#52285;&#50629;%20&#44221;&#50689;%20&#51648;&#50896;%20&#49556;&#47336;&#49496;\Flow%20-%20&#52397;&#45380;%20&#49548;&#49345;&#44277;&#51064;&#51648;&#50896;%20Stat%20project%20&#54861;&#48372;&#50689;&#49345;.mp4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38100">
            <a:solidFill>
              <a:srgbClr val="BE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D7C3"/>
                </a:solidFill>
              </a:defRPr>
            </a:pPr>
            <a:r>
              <a:rPr>
                <a:solidFill>
                  <a:srgbClr val="F5F5F5"/>
                </a:solidFill>
              </a:rPr>
              <a:t>K-Digital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2200">
                <a:solidFill>
                  <a:srgbClr val="E6D7C3"/>
                </a:solidFill>
              </a:defRPr>
            </a:pPr>
            <a:r>
              <a:rPr dirty="0">
                <a:solidFill>
                  <a:srgbClr val="F5F5F5"/>
                </a:solidFill>
              </a:rPr>
              <a:t>○○ </a:t>
            </a:r>
            <a:r>
              <a:rPr dirty="0" err="1">
                <a:solidFill>
                  <a:srgbClr val="F5F5F5"/>
                </a:solidFill>
              </a:rPr>
              <a:t>아카데미</a:t>
            </a:r>
            <a:r>
              <a:rPr dirty="0">
                <a:solidFill>
                  <a:srgbClr val="F5F5F5"/>
                </a:solidFill>
              </a:rPr>
              <a:t> (</a:t>
            </a:r>
            <a:r>
              <a:rPr dirty="0" err="1">
                <a:solidFill>
                  <a:srgbClr val="F5F5F5"/>
                </a:solidFill>
              </a:rPr>
              <a:t>훈련기관명</a:t>
            </a:r>
            <a:r>
              <a:rPr dirty="0">
                <a:solidFill>
                  <a:srgbClr val="F5F5F5"/>
                </a:solidFill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5246757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7600" b="1">
                <a:solidFill>
                  <a:srgbClr val="00FFC2"/>
                </a:solidFill>
              </a:defRPr>
            </a:pPr>
            <a:r>
              <a:rPr dirty="0">
                <a:solidFill>
                  <a:srgbClr val="F5F5F5"/>
                </a:solidFill>
              </a:rPr>
              <a:t>Flow (</a:t>
            </a:r>
            <a:r>
              <a:rPr dirty="0" err="1">
                <a:solidFill>
                  <a:srgbClr val="F5F5F5"/>
                </a:solidFill>
              </a:rPr>
              <a:t>흐름</a:t>
            </a:r>
            <a:r>
              <a:rPr dirty="0">
                <a:solidFill>
                  <a:srgbClr val="F5F5F5"/>
                </a:solidFill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>
                <a:solidFill>
                  <a:srgbClr val="E6D7C3"/>
                </a:solidFill>
              </a:defRPr>
            </a:pPr>
            <a:r>
              <a:rPr>
                <a:solidFill>
                  <a:srgbClr val="F5F5F5"/>
                </a:solidFill>
              </a:rPr>
              <a:t>성수·한남 상권 시각 DNA 기반</a:t>
            </a:r>
            <a:r>
              <a:t/>
            </a:r>
            <a:br/>
            <a:r>
              <a:rPr>
                <a:solidFill>
                  <a:srgbClr val="F5F5F5"/>
                </a:solidFill>
              </a:rPr>
              <a:t>청년 창업 경영 지원 솔루션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62764" y="5435600"/>
            <a:ext cx="4153701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r">
              <a:defRPr sz="1600">
                <a:solidFill>
                  <a:srgbClr val="E6D7C3"/>
                </a:solidFill>
              </a:defRPr>
            </a:pPr>
            <a:r>
              <a:rPr dirty="0" smtClean="0">
                <a:solidFill>
                  <a:srgbClr val="F5F5F5"/>
                </a:solidFill>
              </a:rPr>
              <a:t>TEAM </a:t>
            </a:r>
            <a:r>
              <a:rPr lang="en-US" dirty="0" smtClean="0">
                <a:solidFill>
                  <a:srgbClr val="F5F5F5"/>
                </a:solidFill>
              </a:rPr>
              <a:t>Flow</a:t>
            </a:r>
            <a:r>
              <a:rPr dirty="0" smtClean="0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| [</a:t>
            </a:r>
            <a:r>
              <a:rPr dirty="0" err="1">
                <a:solidFill>
                  <a:srgbClr val="F5F5F5"/>
                </a:solidFill>
              </a:rPr>
              <a:t>멘토</a:t>
            </a:r>
            <a:r>
              <a:rPr dirty="0">
                <a:solidFill>
                  <a:srgbClr val="F5F5F5"/>
                </a:solidFill>
              </a:rPr>
              <a:t>] ○○○ </a:t>
            </a:r>
            <a:r>
              <a:rPr dirty="0" err="1">
                <a:solidFill>
                  <a:srgbClr val="F5F5F5"/>
                </a:solidFill>
              </a:rPr>
              <a:t>멘토님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rgbClr val="F5F5F5"/>
                </a:solidFill>
              </a:rPr>
              <a:t>김○○, 박○○, 이○○, 최○○, 정○○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</a:rPr>
              <a:t>Contents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2805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rPr dirty="0">
                <a:solidFill>
                  <a:srgbClr val="F5F5F5"/>
                </a:solidFill>
              </a:rPr>
              <a:t>01. </a:t>
            </a:r>
            <a:r>
              <a:rPr dirty="0" err="1">
                <a:solidFill>
                  <a:srgbClr val="F5F5F5"/>
                </a:solidFill>
              </a:rPr>
              <a:t>프로젝트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개요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272241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rPr dirty="0">
                <a:solidFill>
                  <a:srgbClr val="F5F5F5"/>
                </a:solidFill>
              </a:rPr>
              <a:t>02. </a:t>
            </a:r>
            <a:r>
              <a:rPr dirty="0" err="1">
                <a:solidFill>
                  <a:srgbClr val="F5F5F5"/>
                </a:solidFill>
              </a:rPr>
              <a:t>데이터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분석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시각화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331677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rPr>
                <a:solidFill>
                  <a:srgbClr val="F5F5F5"/>
                </a:solidFill>
              </a:rPr>
              <a:t>03. 하네스 &amp; 버킷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1113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rPr>
                <a:solidFill>
                  <a:srgbClr val="F5F5F5"/>
                </a:solidFill>
              </a:rPr>
              <a:t>04. 브랜딩 &amp; 아이덴티티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0549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rPr>
                <a:solidFill>
                  <a:srgbClr val="F5F5F5"/>
                </a:solidFill>
              </a:rPr>
              <a:t>05. 솔루션 시뮬레이션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9985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rPr>
                <a:solidFill>
                  <a:srgbClr val="F5F5F5"/>
                </a:solidFill>
              </a:rPr>
              <a:t>06. 서비스 시연 (Video)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9421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rPr>
                <a:solidFill>
                  <a:srgbClr val="F5F5F5"/>
                </a:solidFill>
              </a:rPr>
              <a:t>07. 팀 시너지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rPr>
                <a:solidFill>
                  <a:srgbClr val="F5F5F5"/>
                </a:solidFill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rPr>
                <a:solidFill>
                  <a:srgbClr val="F5F5F5"/>
                </a:solidFill>
              </a:rPr>
              <a:t>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</a:rPr>
              <a:t>01.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3874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00FFC2"/>
                </a:solidFill>
              </a:defRPr>
            </a:pPr>
            <a:r>
              <a:rPr dirty="0">
                <a:solidFill>
                  <a:srgbClr val="F5F5F5"/>
                </a:solidFill>
              </a:rPr>
              <a:t>Hip-Traditional Wood Flow</a:t>
            </a:r>
          </a:p>
          <a:p>
            <a:r>
              <a:rPr dirty="0"/>
              <a:t/>
            </a:r>
            <a:br>
              <a:rPr dirty="0"/>
            </a:br>
            <a:r>
              <a:rPr dirty="0" err="1">
                <a:solidFill>
                  <a:srgbClr val="F5F5F5"/>
                </a:solidFill>
              </a:rPr>
              <a:t>전통적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우드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감성과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현대적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데이터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시각화의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조화</a:t>
            </a:r>
            <a:r>
              <a:rPr dirty="0"/>
              <a:t/>
            </a:r>
            <a:br>
              <a:rPr dirty="0"/>
            </a:br>
            <a:r>
              <a:rPr dirty="0">
                <a:solidFill>
                  <a:srgbClr val="F5F5F5"/>
                </a:solidFill>
              </a:rPr>
              <a:t>- </a:t>
            </a:r>
            <a:r>
              <a:rPr dirty="0" err="1">
                <a:solidFill>
                  <a:srgbClr val="F5F5F5"/>
                </a:solidFill>
              </a:rPr>
              <a:t>성수동의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우드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빈티지</a:t>
            </a:r>
            <a:r>
              <a:rPr dirty="0">
                <a:solidFill>
                  <a:srgbClr val="F5F5F5"/>
                </a:solidFill>
              </a:rPr>
              <a:t> &amp; </a:t>
            </a:r>
            <a:r>
              <a:rPr dirty="0" err="1">
                <a:solidFill>
                  <a:srgbClr val="F5F5F5"/>
                </a:solidFill>
              </a:rPr>
              <a:t>한남동의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미니멀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무드</a:t>
            </a:r>
            <a:r>
              <a:rPr dirty="0"/>
              <a:t/>
            </a:r>
            <a:br>
              <a:rPr dirty="0"/>
            </a:br>
            <a:r>
              <a:rPr dirty="0">
                <a:solidFill>
                  <a:srgbClr val="F5F5F5"/>
                </a:solidFill>
              </a:rPr>
              <a:t>- </a:t>
            </a:r>
            <a:r>
              <a:rPr dirty="0" err="1">
                <a:solidFill>
                  <a:srgbClr val="F5F5F5"/>
                </a:solidFill>
              </a:rPr>
              <a:t>청년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소상공인지원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데이터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오케스트레이션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플랫폼</a:t>
            </a:r>
            <a:endParaRPr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t="3027" b="1589"/>
          <a:stretch/>
        </p:blipFill>
        <p:spPr>
          <a:xfrm>
            <a:off x="1118028" y="3953164"/>
            <a:ext cx="1395791" cy="258618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327" y="4026399"/>
            <a:ext cx="5174564" cy="25129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rPr>
                <a:solidFill>
                  <a:srgbClr val="F5F5F5"/>
                </a:solidFill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rPr>
                <a:solidFill>
                  <a:srgbClr val="F5F5F5"/>
                </a:solidFill>
              </a:rPr>
              <a:t>데이터 분석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</a:rPr>
              <a:t>02. 상권 활동 지수 지표</a:t>
            </a:r>
          </a:p>
        </p:txBody>
      </p:sp>
      <p:pic>
        <p:nvPicPr>
          <p:cNvPr id="5" name="Picture 4" descr="peak_time_compariso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14627"/>
            <a:ext cx="7315200" cy="361938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706254" y="1272309"/>
            <a:ext cx="3592945" cy="3879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상권별</a:t>
            </a:r>
            <a:r>
              <a:rPr lang="ko-KR" altLang="en-US" dirty="0" smtClean="0">
                <a:solidFill>
                  <a:schemeClr val="tx1"/>
                </a:solidFill>
              </a:rPr>
              <a:t> 활동지수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</a:rPr>
              <a:t>02. 시각적 DNA 매칭 분석</a:t>
            </a:r>
          </a:p>
        </p:txBody>
      </p:sp>
      <p:pic>
        <p:nvPicPr>
          <p:cNvPr id="5" name="Picture 4" descr="keyword_dna_compariso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40742"/>
            <a:ext cx="7315200" cy="318517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706254" y="1272309"/>
            <a:ext cx="3592945" cy="3879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상권별</a:t>
            </a:r>
            <a:r>
              <a:rPr lang="ko-KR" altLang="en-US" dirty="0" smtClean="0">
                <a:solidFill>
                  <a:schemeClr val="tx1"/>
                </a:solidFill>
              </a:rPr>
              <a:t> 시각적 분석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rPr>
                <a:solidFill>
                  <a:srgbClr val="F5F5F5"/>
                </a:solidFill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rPr>
                <a:solidFill>
                  <a:srgbClr val="F5F5F5"/>
                </a:solidFill>
              </a:rPr>
              <a:t>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</a:rPr>
              <a:t>03. 하네스 엔지니어링 &amp; 비킷(Bucket)</a:t>
            </a:r>
          </a:p>
        </p:txBody>
      </p:sp>
      <p:sp>
        <p:nvSpPr>
          <p:cNvPr id="5" name="Can 4"/>
          <p:cNvSpPr/>
          <p:nvPr/>
        </p:nvSpPr>
        <p:spPr>
          <a:xfrm>
            <a:off x="792480" y="3089558"/>
            <a:ext cx="2011680" cy="1645920"/>
          </a:xfrm>
          <a:prstGeom prst="can">
            <a:avLst/>
          </a:prstGeom>
          <a:solidFill>
            <a:srgbClr val="E6D7C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1E120A"/>
                </a:solidFill>
              </a:defRPr>
            </a:pPr>
            <a:r>
              <a:rPr dirty="0" err="1">
                <a:solidFill>
                  <a:srgbClr val="F5F5F5"/>
                </a:solidFill>
              </a:rPr>
              <a:t>버킷</a:t>
            </a:r>
            <a:r>
              <a:rPr dirty="0">
                <a:solidFill>
                  <a:srgbClr val="F5F5F5"/>
                </a:solidFill>
              </a:rPr>
              <a:t> (Bucket)</a:t>
            </a:r>
          </a:p>
          <a:p>
            <a:r>
              <a:rPr dirty="0">
                <a:solidFill>
                  <a:srgbClr val="F5F5F5"/>
                </a:solidFill>
              </a:rPr>
              <a:t>Raw Data Lake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5680" y="3089558"/>
            <a:ext cx="2011680" cy="1645920"/>
          </a:xfrm>
          <a:prstGeom prst="roundRect">
            <a:avLst/>
          </a:prstGeom>
          <a:solidFill>
            <a:srgbClr val="00FFC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1E120A"/>
                </a:solidFill>
              </a:defRPr>
            </a:pPr>
            <a:r>
              <a:rPr>
                <a:solidFill>
                  <a:srgbClr val="F5F5F5"/>
                </a:solidFill>
              </a:rPr>
              <a:t>하네스 (Harness)</a:t>
            </a:r>
          </a:p>
          <a:p>
            <a:r>
              <a:rPr>
                <a:solidFill>
                  <a:srgbClr val="F5F5F5"/>
                </a:solidFill>
              </a:rPr>
              <a:t>Processing Unit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880" y="3089558"/>
            <a:ext cx="2011680" cy="1645920"/>
          </a:xfrm>
          <a:prstGeom prst="rect">
            <a:avLst/>
          </a:prstGeom>
          <a:solidFill>
            <a:srgbClr val="E6D7C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1E120A"/>
                </a:solidFill>
              </a:defRPr>
            </a:pPr>
            <a:r>
              <a:rPr>
                <a:solidFill>
                  <a:srgbClr val="F5F5F5"/>
                </a:solidFill>
              </a:rPr>
              <a:t>Gemini API</a:t>
            </a:r>
          </a:p>
          <a:p>
            <a:r>
              <a:rPr>
                <a:solidFill>
                  <a:srgbClr val="F5F5F5"/>
                </a:solidFill>
              </a:rPr>
              <a:t>Intelligent Layer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04160" y="3729638"/>
            <a:ext cx="731520" cy="365760"/>
          </a:xfrm>
          <a:prstGeom prst="rightArrow">
            <a:avLst/>
          </a:prstGeom>
          <a:solidFill>
            <a:srgbClr val="00FFC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5547360" y="3729638"/>
            <a:ext cx="731520" cy="365760"/>
          </a:xfrm>
          <a:prstGeom prst="rightArrow">
            <a:avLst/>
          </a:prstGeom>
          <a:solidFill>
            <a:srgbClr val="00FFC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rPr>
                <a:solidFill>
                  <a:srgbClr val="F5F5F5"/>
                </a:solidFill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rPr>
                <a:solidFill>
                  <a:srgbClr val="F5F5F5"/>
                </a:solidFill>
              </a:rPr>
              <a:t>브랜딩 &amp; 아이덴티티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</a:rPr>
              <a:t>04. BRANDING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FFC2"/>
                </a:solidFill>
              </a:defRPr>
            </a:pPr>
            <a:r>
              <a:rPr>
                <a:solidFill>
                  <a:srgbClr val="F5F5F5"/>
                </a:solidFill>
              </a:rPr>
              <a:t>Logo Song: '골목의 Flow'</a:t>
            </a:r>
          </a:p>
          <a:p>
            <a:r>
              <a:t/>
            </a:r>
            <a:br/>
            <a:r>
              <a:rPr>
                <a:solidFill>
                  <a:srgbClr val="F5F5F5"/>
                </a:solidFill>
              </a:rPr>
              <a:t>Visual Concept: Modern Wood &amp; Neon Harmony</a:t>
            </a:r>
          </a:p>
          <a:p>
            <a:r>
              <a:t/>
            </a:r>
            <a:br/>
            <a:r>
              <a:rPr>
                <a:solidFill>
                  <a:srgbClr val="F5F5F5"/>
                </a:solidFill>
              </a:rPr>
              <a:t>Promotional Message: '청년의 꿈, 상권의 DNA와 함께 흐르다'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213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4754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5F5F5"/>
                </a:solidFill>
              </a:defRPr>
            </a:pPr>
            <a:r>
              <a:t>Visual DNA: Industrial Vintage (Seongsu)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rPr>
                <a:solidFill>
                  <a:srgbClr val="F5F5F5"/>
                </a:solidFill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rPr>
                <a:solidFill>
                  <a:srgbClr val="F5F5F5"/>
                </a:solidFill>
              </a:rPr>
              <a:t>솔루션 시뮬레이션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</a:rPr>
              <a:t>05. SOLUTION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D7C3"/>
                </a:solidFill>
              </a:defRPr>
            </a:pPr>
            <a:r>
              <a:rPr>
                <a:solidFill>
                  <a:srgbClr val="F5F5F5"/>
                </a:solidFill>
              </a:rPr>
              <a:t>- K-Means Clustering: 최적의 상권 시각적 결합 모델</a:t>
            </a:r>
            <a:r>
              <a:t/>
            </a:r>
            <a:br/>
            <a:r>
              <a:rPr>
                <a:solidFill>
                  <a:srgbClr val="F5F5F5"/>
                </a:solidFill>
              </a:rPr>
              <a:t>- Space Sharing Model: 오전/오후 및 가용 공간 공유를 통한 임대료 절감</a:t>
            </a:r>
            <a:r>
              <a:t/>
            </a:r>
            <a:br/>
            <a:r>
              <a:rPr>
                <a:solidFill>
                  <a:srgbClr val="F5F5F5"/>
                </a:solidFill>
              </a:rPr>
              <a:t>- 시뮬레이션 결과: 청년 창업가 초기 진입 비용 40% 절감 가능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753" y="2948247"/>
            <a:ext cx="3777210" cy="37772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rPr>
                <a:solidFill>
                  <a:srgbClr val="F5F5F5"/>
                </a:solidFill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49598" y="2743200"/>
            <a:ext cx="4408066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rPr dirty="0" err="1">
                <a:solidFill>
                  <a:srgbClr val="F5F5F5"/>
                </a:solidFill>
              </a:rPr>
              <a:t>서비스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시연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dirty="0" smtClean="0">
                <a:solidFill>
                  <a:srgbClr val="F5F5F5"/>
                </a:solidFill>
              </a:rPr>
              <a:t>(</a:t>
            </a:r>
            <a:r>
              <a:rPr dirty="0">
                <a:solidFill>
                  <a:srgbClr val="F5F5F5"/>
                </a:solidFill>
              </a:rPr>
              <a:t>Demonstration)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</a:rPr>
              <a:t>06. SERVICE DEMONSTRATION</a:t>
            </a:r>
          </a:p>
        </p:txBody>
      </p:sp>
      <p:pic>
        <p:nvPicPr>
          <p:cNvPr id="5" name="Picture 4" descr="video_thumbnail_v25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63040"/>
            <a:ext cx="6400800" cy="3600450"/>
          </a:xfrm>
          <a:prstGeom prst="rect">
            <a:avLst/>
          </a:prstGeom>
          <a:ln w="50800">
            <a:solidFill>
              <a:srgbClr val="00FFC2"/>
            </a:solidFill>
          </a:ln>
        </p:spPr>
      </p:pic>
      <p:sp>
        <p:nvSpPr>
          <p:cNvPr id="6" name="Isosceles Triangle 5"/>
          <p:cNvSpPr/>
          <p:nvPr/>
        </p:nvSpPr>
        <p:spPr>
          <a:xfrm rot="5400000">
            <a:off x="4114800" y="2834640"/>
            <a:ext cx="914400" cy="914400"/>
          </a:xfrm>
          <a:prstGeom prst="triangle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000" b="1">
                <a:solidFill>
                  <a:srgbClr val="00FFC2"/>
                </a:solidFill>
              </a:defRPr>
            </a:pPr>
            <a:r>
              <a:rPr>
                <a:solidFill>
                  <a:srgbClr val="F5F5F5"/>
                </a:solidFill>
                <a:hlinkClick r:id="rId2"/>
              </a:rPr>
              <a:t>영상 재생하기 (Click Here)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1718" y="6442715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rgbClr val="F5F5F5"/>
                </a:solidFill>
              </a:rPr>
              <a:t>Path: Flow - 홍보영상.mp4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rPr>
                <a:solidFill>
                  <a:srgbClr val="F5F5F5"/>
                </a:solidFill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51195" y="2743200"/>
            <a:ext cx="4084516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rPr dirty="0">
                <a:solidFill>
                  <a:srgbClr val="F5F5F5"/>
                </a:solidFill>
              </a:rPr>
              <a:t>팀 </a:t>
            </a:r>
            <a:r>
              <a:rPr dirty="0" err="1">
                <a:solidFill>
                  <a:srgbClr val="F5F5F5"/>
                </a:solidFill>
              </a:rPr>
              <a:t>시너지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dirty="0" smtClean="0">
                <a:solidFill>
                  <a:srgbClr val="F5F5F5"/>
                </a:solidFill>
              </a:rPr>
              <a:t>(</a:t>
            </a:r>
            <a:r>
              <a:rPr dirty="0">
                <a:solidFill>
                  <a:srgbClr val="F5F5F5"/>
                </a:solidFill>
              </a:rPr>
              <a:t>Team Synergy)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</a:rPr>
              <a:t>07. THE FLOW DREAM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4500" y="859536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00FFC2"/>
                </a:solidFill>
              </a:defRPr>
            </a:pPr>
            <a:r>
              <a:rPr dirty="0">
                <a:solidFill>
                  <a:srgbClr val="F5F5F5"/>
                </a:solidFill>
              </a:rPr>
              <a:t>Member A: IT 20y HR </a:t>
            </a:r>
            <a:r>
              <a:rPr dirty="0" err="1">
                <a:solidFill>
                  <a:srgbClr val="F5F5F5"/>
                </a:solidFill>
              </a:rPr>
              <a:t>베테랑</a:t>
            </a:r>
            <a:r>
              <a:rPr dirty="0">
                <a:solidFill>
                  <a:srgbClr val="F5F5F5"/>
                </a:solidFill>
              </a:rPr>
              <a:t> (</a:t>
            </a:r>
            <a:r>
              <a:rPr dirty="0" err="1">
                <a:solidFill>
                  <a:srgbClr val="F5F5F5"/>
                </a:solidFill>
              </a:rPr>
              <a:t>전략</a:t>
            </a:r>
            <a:r>
              <a:rPr dirty="0">
                <a:solidFill>
                  <a:srgbClr val="F5F5F5"/>
                </a:solidFill>
              </a:rPr>
              <a:t> 및 </a:t>
            </a:r>
            <a:r>
              <a:rPr dirty="0" err="1">
                <a:solidFill>
                  <a:srgbClr val="F5F5F5"/>
                </a:solidFill>
              </a:rPr>
              <a:t>운영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관리</a:t>
            </a:r>
            <a:r>
              <a:rPr dirty="0">
                <a:solidFill>
                  <a:srgbClr val="F5F5F5"/>
                </a:solidFill>
              </a:rPr>
              <a:t>)</a:t>
            </a:r>
          </a:p>
          <a:p>
            <a:pPr>
              <a:defRPr sz="1800">
                <a:solidFill>
                  <a:srgbClr val="E6D7C3"/>
                </a:solidFill>
              </a:defRPr>
            </a:pPr>
            <a:r>
              <a:rPr dirty="0">
                <a:solidFill>
                  <a:srgbClr val="F5F5F5"/>
                </a:solidFill>
              </a:rPr>
              <a:t>  - </a:t>
            </a:r>
            <a:r>
              <a:rPr dirty="0" err="1">
                <a:solidFill>
                  <a:srgbClr val="F5F5F5"/>
                </a:solidFill>
              </a:rPr>
              <a:t>데이터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아키텍처</a:t>
            </a:r>
            <a:r>
              <a:rPr dirty="0">
                <a:solidFill>
                  <a:srgbClr val="F5F5F5"/>
                </a:solidFill>
              </a:rPr>
              <a:t> 및 </a:t>
            </a:r>
            <a:r>
              <a:rPr dirty="0" err="1">
                <a:solidFill>
                  <a:srgbClr val="F5F5F5"/>
                </a:solidFill>
              </a:rPr>
              <a:t>하네스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설계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총괄</a:t>
            </a:r>
            <a:r>
              <a:rPr dirty="0"/>
              <a:t/>
            </a:r>
            <a:br>
              <a:rPr dirty="0"/>
            </a:br>
            <a:r>
              <a:rPr dirty="0">
                <a:solidFill>
                  <a:srgbClr val="F5F5F5"/>
                </a:solidFill>
              </a:rPr>
              <a:t>  - </a:t>
            </a:r>
            <a:r>
              <a:rPr dirty="0" err="1">
                <a:solidFill>
                  <a:srgbClr val="F5F5F5"/>
                </a:solidFill>
              </a:rPr>
              <a:t>프로젝트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매니지먼트</a:t>
            </a:r>
            <a:r>
              <a:rPr dirty="0">
                <a:solidFill>
                  <a:srgbClr val="F5F5F5"/>
                </a:solidFill>
              </a:rPr>
              <a:t> 및 </a:t>
            </a:r>
            <a:r>
              <a:rPr dirty="0" err="1">
                <a:solidFill>
                  <a:srgbClr val="F5F5F5"/>
                </a:solidFill>
              </a:rPr>
              <a:t>리스크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관리</a:t>
            </a:r>
            <a:endParaRPr dirty="0"/>
          </a:p>
          <a:p>
            <a:r>
              <a:rPr dirty="0"/>
              <a:t/>
            </a:r>
            <a:br>
              <a:rPr dirty="0"/>
            </a:br>
            <a:r>
              <a:rPr dirty="0">
                <a:solidFill>
                  <a:srgbClr val="F5F5F5"/>
                </a:solidFill>
              </a:rPr>
              <a:t>Member B: 15y </a:t>
            </a:r>
            <a:r>
              <a:rPr dirty="0" err="1">
                <a:solidFill>
                  <a:srgbClr val="F5F5F5"/>
                </a:solidFill>
              </a:rPr>
              <a:t>색채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전문가</a:t>
            </a:r>
            <a:r>
              <a:rPr dirty="0">
                <a:solidFill>
                  <a:srgbClr val="F5F5F5"/>
                </a:solidFill>
              </a:rPr>
              <a:t> (Visual DNA </a:t>
            </a:r>
            <a:r>
              <a:rPr dirty="0" err="1">
                <a:solidFill>
                  <a:srgbClr val="F5F5F5"/>
                </a:solidFill>
              </a:rPr>
              <a:t>디렉팅</a:t>
            </a:r>
            <a:r>
              <a:rPr dirty="0">
                <a:solidFill>
                  <a:srgbClr val="F5F5F5"/>
                </a:solidFill>
              </a:rPr>
              <a:t>)</a:t>
            </a:r>
          </a:p>
          <a:p>
            <a:pPr>
              <a:defRPr sz="1800">
                <a:solidFill>
                  <a:srgbClr val="E6D7C3"/>
                </a:solidFill>
              </a:defRPr>
            </a:pPr>
            <a:r>
              <a:rPr dirty="0">
                <a:solidFill>
                  <a:srgbClr val="F5F5F5"/>
                </a:solidFill>
              </a:rPr>
              <a:t>  - </a:t>
            </a:r>
            <a:r>
              <a:rPr dirty="0" err="1">
                <a:solidFill>
                  <a:srgbClr val="F5F5F5"/>
                </a:solidFill>
              </a:rPr>
              <a:t>성수</a:t>
            </a:r>
            <a:r>
              <a:rPr dirty="0">
                <a:solidFill>
                  <a:srgbClr val="F5F5F5"/>
                </a:solidFill>
              </a:rPr>
              <a:t>/</a:t>
            </a:r>
            <a:r>
              <a:rPr dirty="0" err="1">
                <a:solidFill>
                  <a:srgbClr val="F5F5F5"/>
                </a:solidFill>
              </a:rPr>
              <a:t>한남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상권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시각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감성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데이터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추출</a:t>
            </a:r>
            <a:r>
              <a:rPr dirty="0"/>
              <a:t/>
            </a:r>
            <a:br>
              <a:rPr dirty="0"/>
            </a:br>
            <a:r>
              <a:rPr dirty="0">
                <a:solidFill>
                  <a:srgbClr val="F5F5F5"/>
                </a:solidFill>
              </a:rPr>
              <a:t>  - </a:t>
            </a:r>
            <a:r>
              <a:rPr dirty="0" err="1">
                <a:solidFill>
                  <a:srgbClr val="F5F5F5"/>
                </a:solidFill>
              </a:rPr>
              <a:t>프로젝트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브랜딩</a:t>
            </a:r>
            <a:r>
              <a:rPr dirty="0">
                <a:solidFill>
                  <a:srgbClr val="F5F5F5"/>
                </a:solidFill>
              </a:rPr>
              <a:t> 및 </a:t>
            </a:r>
            <a:r>
              <a:rPr dirty="0" err="1">
                <a:solidFill>
                  <a:srgbClr val="F5F5F5"/>
                </a:solidFill>
              </a:rPr>
              <a:t>디자인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총괄</a:t>
            </a:r>
            <a:r>
              <a:rPr dirty="0">
                <a:solidFill>
                  <a:srgbClr val="F5F5F5"/>
                </a:solidFill>
              </a:rPr>
              <a:t> </a:t>
            </a:r>
            <a:r>
              <a:rPr dirty="0" err="1">
                <a:solidFill>
                  <a:srgbClr val="F5F5F5"/>
                </a:solidFill>
              </a:rPr>
              <a:t>디렉팅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DEFF9A"/>
                </a:solidFill>
              </a:defRPr>
            </a:pPr>
            <a:r>
              <a:t>STRATEGIC RISK &amp; INSIGHT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46913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EFF9A"/>
                </a:solidFill>
              </a:defRPr>
            </a:pPr>
            <a:r>
              <a:rPr dirty="0"/>
              <a:t>POSITIVE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6549" y="1750298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5F5F5"/>
                </a:solidFill>
              </a:defRPr>
            </a:pPr>
            <a:r>
              <a:rPr dirty="0"/>
              <a:t>- MZ </a:t>
            </a:r>
            <a:r>
              <a:rPr dirty="0" err="1"/>
              <a:t>세대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충성도</a:t>
            </a:r>
            <a:r>
              <a:rPr dirty="0"/>
              <a:t> (</a:t>
            </a:r>
            <a:r>
              <a:rPr dirty="0" err="1"/>
              <a:t>재방문율</a:t>
            </a:r>
            <a:r>
              <a:rPr dirty="0"/>
              <a:t> 35%+)</a:t>
            </a:r>
            <a:br>
              <a:rPr dirty="0"/>
            </a:br>
            <a:r>
              <a:rPr dirty="0"/>
              <a:t>- SNS </a:t>
            </a:r>
            <a:r>
              <a:rPr dirty="0" err="1"/>
              <a:t>바이럴</a:t>
            </a:r>
            <a:r>
              <a:rPr dirty="0"/>
              <a:t> </a:t>
            </a:r>
            <a:r>
              <a:rPr dirty="0" err="1"/>
              <a:t>점유율</a:t>
            </a:r>
            <a:r>
              <a:rPr dirty="0"/>
              <a:t> (</a:t>
            </a:r>
            <a:r>
              <a:rPr dirty="0" err="1"/>
              <a:t>상위</a:t>
            </a:r>
            <a:r>
              <a:rPr dirty="0"/>
              <a:t> 1%)</a:t>
            </a:r>
            <a:br>
              <a:rPr dirty="0"/>
            </a:br>
            <a:r>
              <a:rPr dirty="0"/>
              <a:t>- </a:t>
            </a:r>
            <a:r>
              <a:rPr dirty="0" err="1"/>
              <a:t>하이엔드</a:t>
            </a:r>
            <a:r>
              <a:rPr dirty="0"/>
              <a:t> </a:t>
            </a:r>
            <a:r>
              <a:rPr dirty="0" err="1"/>
              <a:t>오피스</a:t>
            </a:r>
            <a:r>
              <a:rPr dirty="0"/>
              <a:t> </a:t>
            </a:r>
            <a:r>
              <a:rPr dirty="0" err="1"/>
              <a:t>융합</a:t>
            </a:r>
            <a:r>
              <a:rPr dirty="0"/>
              <a:t> </a:t>
            </a:r>
            <a:r>
              <a:rPr dirty="0" err="1"/>
              <a:t>가능성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029200" y="12838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464"/>
                </a:solidFill>
              </a:defRPr>
            </a:pPr>
            <a:r>
              <a:rPr dirty="0"/>
              <a:t>RISK FACTORS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59752" y="1731819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5F5F5"/>
                </a:solidFill>
              </a:defRPr>
            </a:pPr>
            <a:r>
              <a:rPr dirty="0"/>
              <a:t>- </a:t>
            </a:r>
            <a:r>
              <a:rPr dirty="0" err="1"/>
              <a:t>임대료</a:t>
            </a:r>
            <a:r>
              <a:rPr dirty="0"/>
              <a:t> </a:t>
            </a:r>
            <a:r>
              <a:rPr dirty="0" err="1"/>
              <a:t>급증</a:t>
            </a:r>
            <a:r>
              <a:rPr dirty="0"/>
              <a:t> (연 12%↑)</a:t>
            </a:r>
            <a:br>
              <a:rPr dirty="0"/>
            </a:br>
            <a:r>
              <a:rPr dirty="0"/>
              <a:t>- </a:t>
            </a:r>
            <a:r>
              <a:rPr dirty="0" err="1"/>
              <a:t>젠트리피케이션</a:t>
            </a:r>
            <a:r>
              <a:rPr dirty="0"/>
              <a:t> </a:t>
            </a:r>
            <a:r>
              <a:rPr dirty="0" err="1"/>
              <a:t>가속화</a:t>
            </a:r>
            <a:r>
              <a:rPr dirty="0"/>
              <a:t> </a:t>
            </a:r>
            <a:r>
              <a:rPr dirty="0" err="1"/>
              <a:t>위험</a:t>
            </a:r>
            <a:r>
              <a:rPr dirty="0"/>
              <a:t/>
            </a:r>
            <a:br>
              <a:rPr dirty="0"/>
            </a:br>
            <a:r>
              <a:rPr dirty="0"/>
              <a:t>-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업종</a:t>
            </a:r>
            <a:r>
              <a:rPr dirty="0"/>
              <a:t>(</a:t>
            </a:r>
            <a:r>
              <a:rPr dirty="0" err="1"/>
              <a:t>카페</a:t>
            </a:r>
            <a:r>
              <a:rPr dirty="0"/>
              <a:t>)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임계점</a:t>
            </a:r>
            <a:r>
              <a:rPr dirty="0"/>
              <a:t> </a:t>
            </a:r>
            <a:r>
              <a:rPr dirty="0" err="1"/>
              <a:t>도달</a:t>
            </a:r>
            <a:endParaRPr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111" y="3066473"/>
            <a:ext cx="2038064" cy="371573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t="3774" b="1022"/>
          <a:stretch/>
        </p:blipFill>
        <p:spPr>
          <a:xfrm>
            <a:off x="5398354" y="3066473"/>
            <a:ext cx="2001593" cy="37407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2112" y="4774443"/>
            <a:ext cx="16225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EFF9A"/>
                </a:solidFill>
              </a:defRPr>
            </a:pPr>
            <a:r>
              <a:rPr lang="ko-KR" altLang="en-US" dirty="0" smtClean="0"/>
              <a:t>상권군집 분석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THE INSIGHT ENGINE: CORE LOGIC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927" y="1417638"/>
            <a:ext cx="5320145" cy="53201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247</Words>
  <Application>Microsoft Office PowerPoint</Application>
  <PresentationFormat>화면 슬라이드 쇼(4:3)</PresentationFormat>
  <Paragraphs>86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STRATEGIC RISK &amp; INSIGHT ANALYSIS</vt:lpstr>
      <vt:lpstr>THE INSIGHT ENGINE: CORE LOGIC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8</cp:revision>
  <dcterms:created xsi:type="dcterms:W3CDTF">2013-01-27T09:14:16Z</dcterms:created>
  <dcterms:modified xsi:type="dcterms:W3CDTF">2026-04-28T06:28:41Z</dcterms:modified>
  <cp:category/>
</cp:coreProperties>
</file>