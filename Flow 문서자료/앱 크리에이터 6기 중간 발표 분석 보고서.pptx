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Urbanist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bold.fntdata"/><Relationship Id="rId11" Type="http://schemas.openxmlformats.org/officeDocument/2006/relationships/slide" Target="slides/slide6.xml"/><Relationship Id="rId22" Type="http://schemas.openxmlformats.org/officeDocument/2006/relationships/font" Target="fonts/Urbanist-boldItalic.fntdata"/><Relationship Id="rId10" Type="http://schemas.openxmlformats.org/officeDocument/2006/relationships/slide" Target="slides/slide5.xml"/><Relationship Id="rId21" Type="http://schemas.openxmlformats.org/officeDocument/2006/relationships/font" Target="fonts/Urbanist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0587aac5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0587aac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0587aac54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0587aac5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2.png"/><Relationship Id="rId6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10.png"/><Relationship Id="rId7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5.png"/><Relationship Id="rId6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10" Type="http://schemas.openxmlformats.org/officeDocument/2006/relationships/image" Target="../media/image20.png"/><Relationship Id="rId9" Type="http://schemas.openxmlformats.org/officeDocument/2006/relationships/image" Target="../media/image22.png"/><Relationship Id="rId5" Type="http://schemas.openxmlformats.org/officeDocument/2006/relationships/image" Target="../media/image24.png"/><Relationship Id="rId6" Type="http://schemas.openxmlformats.org/officeDocument/2006/relationships/image" Target="../media/image19.png"/><Relationship Id="rId7" Type="http://schemas.openxmlformats.org/officeDocument/2006/relationships/image" Target="../media/image16.png"/><Relationship Id="rId8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21.png"/><Relationship Id="rId5" Type="http://schemas.openxmlformats.org/officeDocument/2006/relationships/image" Target="../media/image17.png"/><Relationship Id="rId6" Type="http://schemas.openxmlformats.org/officeDocument/2006/relationships/image" Target="../media/image25.png"/><Relationship Id="rId7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슬라이드의 배경을 밝으면서 앱크리에어터 과정을 맞는 이미지를 넣어 꾸미기 해줘"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배경 이미지를 밝은 색으로 해 주고 프로젝트 발표 하고 멘토하는 이미지를 넣어 꾸미기 해줘" id="89" name="Google Shape;8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070770"/>
            <a:ext cx="5143500" cy="114285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5"/>
          <p:cNvSpPr txBox="1"/>
          <p:nvPr/>
        </p:nvSpPr>
        <p:spPr>
          <a:xfrm>
            <a:off x="762000" y="1533525"/>
            <a:ext cx="540067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프로젝트 핵심 내용</a:t>
            </a:r>
            <a:endParaRPr/>
          </a:p>
        </p:txBody>
      </p:sp>
      <p:sp>
        <p:nvSpPr>
          <p:cNvPr id="97" name="Google Shape;97;p15"/>
          <p:cNvSpPr txBox="1"/>
          <p:nvPr/>
        </p:nvSpPr>
        <p:spPr>
          <a:xfrm>
            <a:off x="762000" y="2057400"/>
            <a:ext cx="51435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서울시 공공데이터(유동 인구, 점포 수, 임대료 등)를 활용하여 자치구별 상권 분석 및 매출을 예측해 주는 프로그램입니다. 머신러닝(선형 회귀, 랜덤 포레스트) 기반으로 UI를 통해 결과를 시각화합니다.</a:t>
            </a:r>
            <a:endParaRPr/>
          </a:p>
        </p:txBody>
      </p:sp>
      <p:sp>
        <p:nvSpPr>
          <p:cNvPr id="98" name="Google Shape;98;p15"/>
          <p:cNvSpPr txBox="1"/>
          <p:nvPr/>
        </p:nvSpPr>
        <p:spPr>
          <a:xfrm>
            <a:off x="6286500" y="1533525"/>
            <a:ext cx="540067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교수 피드백 (Professor's Perspective)</a:t>
            </a:r>
            <a:endParaRPr/>
          </a:p>
        </p:txBody>
      </p:sp>
      <p:sp>
        <p:nvSpPr>
          <p:cNvPr id="99" name="Google Shape;99;p15"/>
          <p:cNvSpPr txBox="1"/>
          <p:nvPr/>
        </p:nvSpPr>
        <p:spPr>
          <a:xfrm>
            <a:off x="952500" y="3261270"/>
            <a:ext cx="4762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현재 단계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952500" y="3535560"/>
            <a:ext cx="47625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데이터 수집 완료 후 모델링 및 UI 개발 단계. 데이터 부족으로 인한 낮은 예측 신뢰도($R^2$) 보강 중.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6572250" y="2028825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B2G 사업 확장 제안: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개인 사용자를 넘어 소상공인을 지원하는 정부 기관 대상의 B2G 모델로 확장을 제안합니다.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6572250" y="2720280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공공 서비스 연계: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정부의 소상공인 지원 예산 및 정책과 연계하여 꾸준한 수익 모델을 창출할 수 있습니다.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6572250" y="3411735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신뢰도 확보: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공공 데이터의 신뢰성을 바탕으로 더 방대한 실시간 데이터 확보가 프로젝트의 성패를 좌우합니다.</a:t>
            </a:r>
            <a:endParaRPr/>
          </a:p>
        </p:txBody>
      </p:sp>
      <p:pic>
        <p:nvPicPr>
          <p:cNvPr descr="image.png" id="104" name="Google Shape;10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330889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952500" y="571500"/>
            <a:ext cx="110013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1팀: </a:t>
            </a:r>
            <a:r>
              <a:rPr b="1" i="0" lang="en-US" sz="31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상권 분석 및 매출 예측 프로그램</a:t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762000" y="571500"/>
            <a:ext cx="47625" cy="58102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7" name="Google Shape;10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0288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72028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41173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785145"/>
            <a:ext cx="106680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533525"/>
            <a:ext cx="5214937" cy="19658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5062" y="1533525"/>
            <a:ext cx="5214937" cy="19658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3794670"/>
            <a:ext cx="10648950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1009650" y="1781175"/>
            <a:ext cx="495561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데이터의 '질'적 고도화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1009650" y="2257425"/>
            <a:ext cx="4719637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공공데이터의 정적 특성을 보완하기 위해 Google Maps API 등을 통한 실시간 리뷰 감성 분석 데이터를 추가하십시오. 날씨, 트렌드 데이터를 결합하면 예측력이 비약적으로 상승합니다.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6462712" y="1781175"/>
            <a:ext cx="495561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설명 가능한 AI (XAI) 도입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462712" y="2257425"/>
            <a:ext cx="4719637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단순 수치 제공을 넘어 "왜 이 매출이 예측되었는지"에 대한 논거(예: 인근 지하철역 기여도 등)를 시각화하여 컨설팅의 논리적 설득력을 확보하십시오.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952500" y="571500"/>
            <a:ext cx="110013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1팀: </a:t>
            </a:r>
            <a:r>
              <a:rPr b="1" i="0" lang="en-US" sz="31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전략적 멘토링 (AI 기반 고도화)</a:t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762000" y="571500"/>
            <a:ext cx="47625" cy="58102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070770"/>
            <a:ext cx="51435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762000" y="1533525"/>
            <a:ext cx="540067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프로젝트 핵심 내용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762000" y="2057400"/>
            <a:ext cx="51435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'응급실 뺑뺑이' 문제를 해결하기 위해 현재 위치 기반 가용 응급실을 실시간으로 검색해주는 서비스입니다. 보건복지부 실시간 API를 연동하며 내비게이션 연결 및 구급대원용 리포트 기능을 포함합니다.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6286500" y="1533525"/>
            <a:ext cx="540067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교수 피드백 (Professor's Perspective)</a:t>
            </a:r>
            <a:endParaRPr/>
          </a:p>
        </p:txBody>
      </p:sp>
      <p:pic>
        <p:nvPicPr>
          <p:cNvPr descr="image.png" id="134" name="Google Shape;13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080295"/>
            <a:ext cx="5124450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6572250" y="2028825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사회적 가치 호평: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응급실 수용 거부 등 사회적 페인 포인트를 정확히 포착한 프로젝트입니다.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6572250" y="2720280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신뢰도 99.9% 확보: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생명과 직결된 서비스인 만큼 데이터의 정확성과 신속한 업데이트가 가장 중요합니다.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6572250" y="3411735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공공 서비스 제안: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정부나 소방청에 공공 서비스로 정식 제안할 수 있는 수준으로 고도화할 가치가 충분합니다.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952500" y="571500"/>
            <a:ext cx="1100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2팀: </a:t>
            </a:r>
            <a:r>
              <a:rPr b="1" lang="en-US" sz="3150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르네상스</a:t>
            </a:r>
            <a:r>
              <a:rPr b="1" i="0" lang="en-US" sz="31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 (응급실 찾기 웹 앱)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762000" y="571500"/>
            <a:ext cx="47625" cy="58102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0" name="Google Shape;14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0288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72028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41173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533525"/>
            <a:ext cx="5214937" cy="19658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5062" y="1533525"/>
            <a:ext cx="5214937" cy="196587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904875" y="3785145"/>
            <a:ext cx="105251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※ 이 서비스는 단순 앱 개발을 넘어 국가 의료 안전망의 일부로 기능할 수 있는 잠재력을 가집니다.</a:t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762000" y="3785145"/>
            <a:ext cx="28575" cy="27429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1009650" y="1781175"/>
            <a:ext cx="495561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크라우드 소싱 기반 보정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1009650" y="2257425"/>
            <a:ext cx="4719637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API 시차 해결을 위해 구급대원이 현장에서 직접 '수용 불가'를 보고하여 시스템 정보를 즉시 갱신하는 피드백 루프 시스템을 구축하여 데이터 신뢰도를 보완하십시오.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6462712" y="1781175"/>
            <a:ext cx="495561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LLM 기반 의료 증상 요약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6462712" y="2257425"/>
            <a:ext cx="4719637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대원이 음성으로 환자 상태를 입력하면 AI가 의학 용어로 요약하여 병원에 전송하는 기능을 추가하십시오. 이는 도착 전 병원의 준비를 돕고 골든타임을 단축합니다.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952500" y="571500"/>
            <a:ext cx="110013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2팀: </a:t>
            </a:r>
            <a:r>
              <a:rPr b="1" i="0" lang="en-US" sz="31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전략적 멘토링 (현장성 및 AI 최적화)</a:t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762000" y="571500"/>
            <a:ext cx="47625" cy="58102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070770"/>
            <a:ext cx="51435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762000" y="1533525"/>
            <a:ext cx="540067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프로젝트 핵심 내용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762000" y="2057400"/>
            <a:ext cx="51435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성수, 한남 등 힙한 상권의 시각적 특성(DNA)을 SNS 크롤링 데이터로 분석하여, 청년 창업자에게 페르소나별 브랜딩 및 공간 컨셉 솔루션을 제공하는 컨설팅 도구입니다.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6286500" y="1533525"/>
            <a:ext cx="540067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교수 피드백 (Professor's Perspective)</a:t>
            </a:r>
            <a:endParaRPr/>
          </a:p>
        </p:txBody>
      </p:sp>
      <p:pic>
        <p:nvPicPr>
          <p:cNvPr descr="image.png" id="167" name="Google Shape;16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080295"/>
            <a:ext cx="5124450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6572250" y="2028825"/>
            <a:ext cx="48577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데이터 편향성 주의: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블로그/SNS 데이터는 홍보성 성격이 강하므로, 실제 카드 매출 데이터와 교차 분석하여 논리적 근거를 보강해야 합니다.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6572250" y="2994570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비즈니스 모델 고도화: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백종원의 골목식당처럼 죽어가는 상권을 살리는 솔루션 피를 받는 등의 구체적인 수익 모델 고민이 필요합니다.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952500" y="571500"/>
            <a:ext cx="110013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3팀: </a:t>
            </a:r>
            <a:r>
              <a:rPr b="1" i="0" lang="en-US" sz="31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플로우 (청년 창업 상권 DNA 분석)</a:t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762000" y="571500"/>
            <a:ext cx="47625" cy="58102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2" name="Google Shape;17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0288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99457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533525"/>
            <a:ext cx="5214937" cy="19658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5062" y="1533525"/>
            <a:ext cx="5214937" cy="196587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762000" y="3785145"/>
            <a:ext cx="10668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"SNS 상의 텍스트 너머, 실제 지갑이 열리는 지점을 포착하는 것이 본 프로젝트의 핵심 성공 요인입니다."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1009650" y="1781175"/>
            <a:ext cx="495561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상권의 '이동' 예측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1009650" y="2257425"/>
            <a:ext cx="4719637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단순 현재 분석을 넘어 임대료 변화와 신규 등록 업종을 분석하는 '젠트리피케이션 지수'를 개발하십시오. 이를 통해 "다음 힙한 상권"을 선제적으로 제안하는 가치를 창출해야 합니다.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6462712" y="1781175"/>
            <a:ext cx="495561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이미지 생성 AI(Gen-AI) 연동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6462712" y="2257425"/>
            <a:ext cx="4719637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텍스트 설명을 넘어 사용자의 페르소나에 맞춘 인테리어 투시도나 로고 시안을 AI가 즉석에서 생성해 보여줌으로써 서비스의 시각적 완결성을 높이십시오.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952500" y="571500"/>
            <a:ext cx="110013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3팀: </a:t>
            </a:r>
            <a:r>
              <a:rPr b="1" i="0" lang="en-US" sz="31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전략적 멘토링 (트렌드 분석의 고도화)</a:t>
            </a: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762000" y="571500"/>
            <a:ext cx="47625" cy="58102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070770"/>
            <a:ext cx="51435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762000" y="1533525"/>
            <a:ext cx="540067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프로젝트 핵심 내용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762000" y="2057400"/>
            <a:ext cx="51435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청각 장애인과 비장애인 모두가 즐길 수 있도록 소리를 시각(그래픽)과 촉각(진동 패턴)으로 번역해 주는 앱입니다. 클래식 작곡 전공자의 전문성을 녹여 음악적 감동을 다차원적으로 전달합니다.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6286500" y="1533525"/>
            <a:ext cx="540067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교수 피드백 (Professor's Perspective)</a:t>
            </a:r>
            <a:endParaRPr/>
          </a:p>
        </p:txBody>
      </p:sp>
      <p:pic>
        <p:nvPicPr>
          <p:cNvPr descr="image.png" id="197" name="Google Shape;19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080295"/>
            <a:ext cx="5124450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/>
          <p:nvPr/>
        </p:nvSpPr>
        <p:spPr>
          <a:xfrm>
            <a:off x="6572250" y="2028825"/>
            <a:ext cx="48577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장르의 보편화: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특정 장애인을 위한 앱에 그치지 않고, 비장애인도 음악을 온몸으로 느끼는 새로운 감상 도구로서의 범용성을 확보해야 합니다.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6572250" y="2994570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진동 품질의 신뢰도: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촉각적 감동이 핵심이므로, 음악의 리듬과 선율에 1:1로 대응하는 정교한 진동 설계가 프로젝트의 본질입니다.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952500" y="571500"/>
            <a:ext cx="110013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4팀: </a:t>
            </a:r>
            <a:r>
              <a:rPr b="1" i="0" lang="en-US" sz="31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배리어 프리(Barrier-free) 음악 감상 앱</a:t>
            </a:r>
            <a:endParaRPr/>
          </a:p>
        </p:txBody>
      </p:sp>
      <p:sp>
        <p:nvSpPr>
          <p:cNvPr id="201" name="Google Shape;201;p21"/>
          <p:cNvSpPr/>
          <p:nvPr/>
        </p:nvSpPr>
        <p:spPr>
          <a:xfrm>
            <a:off x="762000" y="571500"/>
            <a:ext cx="47625" cy="58102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2" name="Google Shape;20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0288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99457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533525"/>
            <a:ext cx="5214937" cy="19658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5062" y="1533525"/>
            <a:ext cx="5214937" cy="196587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/>
        </p:nvSpPr>
        <p:spPr>
          <a:xfrm>
            <a:off x="762000" y="3785145"/>
            <a:ext cx="10668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"귀가 아닌 온몸으로 듣는 새로운 음악의 정의를 내리는 과정입니다."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1009650" y="1781175"/>
            <a:ext cx="495561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주파수-진동 매핑 기술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1009650" y="2257425"/>
            <a:ext cx="4719637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악기별 주파수를 분리하여 저음은 큰 진동으로, 고음은 섬세한 떨림으로 전달하는 기술을 고도화하십시오. 단순 박자가 아닌 선율의 흐름을 피부로 읽게 해야 합니다.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6462712" y="1781175"/>
            <a:ext cx="495561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개인화 감각 프로필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6462712" y="2257425"/>
            <a:ext cx="4719637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사람마다 선호하는 감각 결합이 다르므로, 초기 캘리브레이션을 통해 본인에게 가장 음악적으로 다가오는 진동 강도와 색상 조합을 설정하는 커스터마이징을 지원하십시오.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952500" y="571500"/>
            <a:ext cx="110013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4팀: </a:t>
            </a:r>
            <a:r>
              <a:rPr b="1" i="0" lang="en-US" sz="31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전략적 멘토링 (감각 매핑의 공학적 접근)</a:t>
            </a:r>
            <a:endParaRPr/>
          </a:p>
        </p:txBody>
      </p:sp>
      <p:sp>
        <p:nvSpPr>
          <p:cNvPr id="217" name="Google Shape;217;p22"/>
          <p:cNvSpPr/>
          <p:nvPr/>
        </p:nvSpPr>
        <p:spPr>
          <a:xfrm>
            <a:off x="762000" y="571500"/>
            <a:ext cx="47625" cy="58102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533525"/>
            <a:ext cx="3429000" cy="32212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1533525"/>
            <a:ext cx="3429000" cy="32212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1000" y="1533525"/>
            <a:ext cx="3429000" cy="32212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43125" y="181927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 txBox="1"/>
          <p:nvPr/>
        </p:nvSpPr>
        <p:spPr>
          <a:xfrm>
            <a:off x="976312" y="2676525"/>
            <a:ext cx="300037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데이터 신뢰성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1047750" y="3200400"/>
            <a:ext cx="28575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모든 프로젝트의 기초는 정확한 데이터입니다. 정적 데이터의 한계를 실시간/다각도 교차 검증으로 해결하십시오.</a:t>
            </a:r>
            <a:endParaRPr/>
          </a:p>
        </p:txBody>
      </p:sp>
      <p:pic>
        <p:nvPicPr>
          <p:cNvPr descr="image.png" id="229" name="Google Shape;22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62625" y="181927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3"/>
          <p:cNvSpPr txBox="1"/>
          <p:nvPr/>
        </p:nvSpPr>
        <p:spPr>
          <a:xfrm>
            <a:off x="4595812" y="2676525"/>
            <a:ext cx="300037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비즈니스 로직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4667250" y="3200400"/>
            <a:ext cx="28575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기술적 구현에만 함몰되지 말고, 누가 이 서비스에 비용을 지불할 것인가(B2G/B2B/B2C)를 명확히 정의하십시오.</a:t>
            </a:r>
            <a:endParaRPr/>
          </a:p>
        </p:txBody>
      </p:sp>
      <p:pic>
        <p:nvPicPr>
          <p:cNvPr descr="image.png" id="232" name="Google Shape;232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82125" y="181927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3"/>
          <p:cNvSpPr txBox="1"/>
          <p:nvPr/>
        </p:nvSpPr>
        <p:spPr>
          <a:xfrm>
            <a:off x="8215312" y="2676525"/>
            <a:ext cx="300037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AI 기반 UX 고도화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8286750" y="3200400"/>
            <a:ext cx="28575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LLM, Generative AI 등 최신 기술을 단순 접목이 아닌, 사용자 경험의 핵심 가치를 높이는 방향으로 녹여내십시오.</a:t>
            </a:r>
            <a:endParaRPr/>
          </a:p>
        </p:txBody>
      </p:sp>
      <p:pic>
        <p:nvPicPr>
          <p:cNvPr descr="image.png" id="235" name="Google Shape;235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333625" y="2009775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53125" y="2009775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553575" y="2009775"/>
            <a:ext cx="3238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 txBox="1"/>
          <p:nvPr/>
        </p:nvSpPr>
        <p:spPr>
          <a:xfrm>
            <a:off x="952500" y="571500"/>
            <a:ext cx="110013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05. </a:t>
            </a:r>
            <a:r>
              <a:rPr b="1" i="0" lang="en-US" sz="31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결론 및 종합 제언</a:t>
            </a:r>
            <a:endParaRPr/>
          </a:p>
        </p:txBody>
      </p:sp>
      <p:sp>
        <p:nvSpPr>
          <p:cNvPr id="239" name="Google Shape;239;p23"/>
          <p:cNvSpPr/>
          <p:nvPr/>
        </p:nvSpPr>
        <p:spPr>
          <a:xfrm>
            <a:off x="762000" y="571500"/>
            <a:ext cx="47625" cy="58102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4"/>
          <p:cNvSpPr txBox="1"/>
          <p:nvPr/>
        </p:nvSpPr>
        <p:spPr>
          <a:xfrm>
            <a:off x="3880723" y="1914525"/>
            <a:ext cx="443055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THANK YOU</a:t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3433762" y="3019425"/>
            <a:ext cx="53244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중간 발표의 성과를 바탕으로 최종 결과물의 완성을 응원합니다.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5000625" y="4497585"/>
            <a:ext cx="2190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앱 크리에이터 6기 교육 운영팀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2" name="Google Shape;25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5"/>
          <p:cNvSpPr/>
          <p:nvPr/>
        </p:nvSpPr>
        <p:spPr>
          <a:xfrm>
            <a:off x="762000" y="1438275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762000" y="2223045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762000" y="3007816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762000" y="2213520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762000" y="2213520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762000" y="2998291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762000" y="2998291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762000" y="3783062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762000" y="3783062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2" name="Google Shape;26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58769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5"/>
          <p:cNvSpPr txBox="1"/>
          <p:nvPr/>
        </p:nvSpPr>
        <p:spPr>
          <a:xfrm>
            <a:off x="1857375" y="1581150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https://png.pngtree.com/thumb_back/fh260/background/20241227/pngtree-dark-data-analytics-dashboard-black-background-image_16870487.jpg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1857375" y="1826865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pngtree.com</a:t>
            </a:r>
            <a:endParaRPr/>
          </a:p>
        </p:txBody>
      </p:sp>
      <p:pic>
        <p:nvPicPr>
          <p:cNvPr descr="image.png" id="265" name="Google Shape;26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37246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5"/>
          <p:cNvSpPr txBox="1"/>
          <p:nvPr/>
        </p:nvSpPr>
        <p:spPr>
          <a:xfrm>
            <a:off x="1857375" y="2365920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https://www.hunimed.eu/wp-content/uploads/2025/08/emergency-AI.png</a:t>
            </a:r>
            <a:endParaRPr/>
          </a:p>
        </p:txBody>
      </p:sp>
      <p:sp>
        <p:nvSpPr>
          <p:cNvPr id="267" name="Google Shape;267;p25"/>
          <p:cNvSpPr txBox="1"/>
          <p:nvPr/>
        </p:nvSpPr>
        <p:spPr>
          <a:xfrm>
            <a:off x="1857375" y="2611635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www.hunimed.eu</a:t>
            </a:r>
            <a:endParaRPr/>
          </a:p>
        </p:txBody>
      </p:sp>
      <p:pic>
        <p:nvPicPr>
          <p:cNvPr descr="image.png" id="268" name="Google Shape;268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15723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5"/>
          <p:cNvSpPr txBox="1"/>
          <p:nvPr/>
        </p:nvSpPr>
        <p:spPr>
          <a:xfrm>
            <a:off x="1857375" y="3150691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https://res.cloudinary.com/fortyfournorth/image/upload/v1718206622/The%20Look%20Company%20%28Staging%29/ru7ygdef4zwk38hgzpjz.jpg</a:t>
            </a:r>
            <a:endParaRPr/>
          </a:p>
        </p:txBody>
      </p:sp>
      <p:sp>
        <p:nvSpPr>
          <p:cNvPr id="270" name="Google Shape;270;p25"/>
          <p:cNvSpPr txBox="1"/>
          <p:nvPr/>
        </p:nvSpPr>
        <p:spPr>
          <a:xfrm>
            <a:off x="1857375" y="3396406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thelookcompany.com</a:t>
            </a:r>
            <a:endParaRPr/>
          </a:p>
        </p:txBody>
      </p:sp>
      <p:pic>
        <p:nvPicPr>
          <p:cNvPr descr="image.png" id="271" name="Google Shape;271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04113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5"/>
          <p:cNvSpPr txBox="1"/>
          <p:nvPr/>
        </p:nvSpPr>
        <p:spPr>
          <a:xfrm>
            <a:off x="1857375" y="3935462"/>
            <a:ext cx="9572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https://images.squarespace-cdn.com/content/v1/66e994ceef4b346e281165da/1726584047657-40SYZPMBT55BWDE2SFUF/HEADER_+NEKAKING_Music+to+your+Brain_HR+.jpg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1857375" y="4379267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www.medicinalmedia.com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952500" y="571500"/>
            <a:ext cx="110013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275" name="Google Shape;275;p25"/>
          <p:cNvSpPr/>
          <p:nvPr/>
        </p:nvSpPr>
        <p:spPr>
          <a:xfrm>
            <a:off x="762000" y="571500"/>
            <a:ext cx="47625" cy="48577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